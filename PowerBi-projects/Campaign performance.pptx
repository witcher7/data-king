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3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7" d="100"/>
          <a:sy n="97" d="100"/>
        </p:scale>
        <p:origin x="201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487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665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32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345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251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741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261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26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583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28804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95096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9722268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97107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32742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78324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3410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220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4590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  <p:sldLayoutId id="2147483935" r:id="rId12"/>
    <p:sldLayoutId id="2147483936" r:id="rId13"/>
    <p:sldLayoutId id="2147483937" r:id="rId14"/>
    <p:sldLayoutId id="2147483938" r:id="rId15"/>
    <p:sldLayoutId id="2147483939" r:id="rId16"/>
    <p:sldLayoutId id="2147483940" r:id="rId17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5C63E2A-DB9A-882E-915F-1BEAE3AC55D3}"/>
              </a:ext>
            </a:extLst>
          </p:cNvPr>
          <p:cNvSpPr/>
          <p:nvPr/>
        </p:nvSpPr>
        <p:spPr>
          <a:xfrm>
            <a:off x="0" y="0"/>
            <a:ext cx="12191999" cy="4817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spc="300" dirty="0"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Campaign Performance</a:t>
            </a:r>
            <a:endParaRPr lang="en-IN" sz="2400" spc="300" dirty="0"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BA0B8F-8E9A-5A22-5BBD-E36C6626E42F}"/>
              </a:ext>
            </a:extLst>
          </p:cNvPr>
          <p:cNvSpPr/>
          <p:nvPr/>
        </p:nvSpPr>
        <p:spPr>
          <a:xfrm>
            <a:off x="-1" y="501331"/>
            <a:ext cx="12191998" cy="5409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7DDAA1-66C2-D53C-3244-792245E2179A}"/>
              </a:ext>
            </a:extLst>
          </p:cNvPr>
          <p:cNvSpPr/>
          <p:nvPr/>
        </p:nvSpPr>
        <p:spPr>
          <a:xfrm>
            <a:off x="-1" y="6376250"/>
            <a:ext cx="12191999" cy="4817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spc="300" dirty="0"/>
              <a:t>Developed By RG Consultants</a:t>
            </a:r>
            <a:endParaRPr lang="en-IN" sz="1400" spc="3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71F82F-1DC1-BB7E-FB66-41E6ED8ABF43}"/>
              </a:ext>
            </a:extLst>
          </p:cNvPr>
          <p:cNvSpPr/>
          <p:nvPr/>
        </p:nvSpPr>
        <p:spPr>
          <a:xfrm>
            <a:off x="-1" y="6310949"/>
            <a:ext cx="12191998" cy="45719"/>
          </a:xfrm>
          <a:prstGeom prst="rect">
            <a:avLst/>
          </a:pr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Block Arc 42">
            <a:extLst>
              <a:ext uri="{FF2B5EF4-FFF2-40B4-BE49-F238E27FC236}">
                <a16:creationId xmlns:a16="http://schemas.microsoft.com/office/drawing/2014/main" id="{31376B74-E8EB-DB85-D0C5-49D5E200F3DA}"/>
              </a:ext>
            </a:extLst>
          </p:cNvPr>
          <p:cNvSpPr/>
          <p:nvPr/>
        </p:nvSpPr>
        <p:spPr>
          <a:xfrm>
            <a:off x="5201265" y="0"/>
            <a:ext cx="1995948" cy="911452"/>
          </a:xfrm>
          <a:prstGeom prst="blockArc">
            <a:avLst/>
          </a:prstGeom>
          <a:gradFill>
            <a:gsLst>
              <a:gs pos="200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4" name="Block Arc 43">
            <a:extLst>
              <a:ext uri="{FF2B5EF4-FFF2-40B4-BE49-F238E27FC236}">
                <a16:creationId xmlns:a16="http://schemas.microsoft.com/office/drawing/2014/main" id="{14ABDC7A-3094-06CA-E740-2A052D59EE93}"/>
              </a:ext>
            </a:extLst>
          </p:cNvPr>
          <p:cNvSpPr/>
          <p:nvPr/>
        </p:nvSpPr>
        <p:spPr>
          <a:xfrm>
            <a:off x="6504039" y="-19582"/>
            <a:ext cx="1995948" cy="911452"/>
          </a:xfrm>
          <a:prstGeom prst="blockArc">
            <a:avLst/>
          </a:prstGeom>
          <a:gradFill>
            <a:gsLst>
              <a:gs pos="600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5" name="Block Arc 44">
            <a:extLst>
              <a:ext uri="{FF2B5EF4-FFF2-40B4-BE49-F238E27FC236}">
                <a16:creationId xmlns:a16="http://schemas.microsoft.com/office/drawing/2014/main" id="{8AC217A2-062D-B788-CE6A-B2E380FAB86A}"/>
              </a:ext>
            </a:extLst>
          </p:cNvPr>
          <p:cNvSpPr/>
          <p:nvPr/>
        </p:nvSpPr>
        <p:spPr>
          <a:xfrm>
            <a:off x="8045244" y="0"/>
            <a:ext cx="1995948" cy="911452"/>
          </a:xfrm>
          <a:prstGeom prst="blockArc">
            <a:avLst/>
          </a:pr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7" name="Block Arc 46">
            <a:extLst>
              <a:ext uri="{FF2B5EF4-FFF2-40B4-BE49-F238E27FC236}">
                <a16:creationId xmlns:a16="http://schemas.microsoft.com/office/drawing/2014/main" id="{8B2AB969-806E-49CF-117B-DF569B2EB3E5}"/>
              </a:ext>
            </a:extLst>
          </p:cNvPr>
          <p:cNvSpPr/>
          <p:nvPr/>
        </p:nvSpPr>
        <p:spPr>
          <a:xfrm>
            <a:off x="9348018" y="9791"/>
            <a:ext cx="1995948" cy="911452"/>
          </a:xfrm>
          <a:prstGeom prst="blockArc">
            <a:avLst/>
          </a:pr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77329FF-4353-811B-2963-BCA118D50D8D}"/>
              </a:ext>
            </a:extLst>
          </p:cNvPr>
          <p:cNvSpPr txBox="1"/>
          <p:nvPr/>
        </p:nvSpPr>
        <p:spPr>
          <a:xfrm>
            <a:off x="8613059" y="-12315"/>
            <a:ext cx="4426972" cy="461665"/>
          </a:xfrm>
          <a:prstGeom prst="rect">
            <a:avLst/>
          </a:prstGeom>
          <a:noFill/>
          <a:effectLst>
            <a:glow rad="139700">
              <a:schemeClr val="accent5">
                <a:satMod val="175000"/>
                <a:alpha val="40000"/>
              </a:schemeClr>
            </a:glow>
            <a:reflection stA="68000" endPos="65000" dist="254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reflection blurRad="6350" stA="60000" endA="900" endPos="60000" dist="60007" dir="5400000" sy="-100000" algn="bl" rotWithShape="0"/>
                </a:effectLst>
                <a:latin typeface="Bauhaus 93" panose="04030905020B02020C02" pitchFamily="82" charset="0"/>
              </a:rPr>
              <a:t>MARKET      MINDZ</a:t>
            </a:r>
            <a:endParaRPr lang="en-IN" sz="2400" dirty="0"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reflection blurRad="6350" stA="60000" endA="900" endPos="60000" dist="60007" dir="5400000" sy="-100000" algn="bl" rotWithShape="0"/>
              </a:effectLst>
              <a:latin typeface="Bauhaus 93" panose="04030905020B02020C02" pitchFamily="82" charset="0"/>
            </a:endParaRPr>
          </a:p>
        </p:txBody>
      </p:sp>
      <p:pic>
        <p:nvPicPr>
          <p:cNvPr id="52" name="Graphic 51" descr="Alien Face with solid fill">
            <a:extLst>
              <a:ext uri="{FF2B5EF4-FFF2-40B4-BE49-F238E27FC236}">
                <a16:creationId xmlns:a16="http://schemas.microsoft.com/office/drawing/2014/main" id="{62CDF9F4-74FE-C7FF-9961-BE8E7A21F9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02761" y="-1"/>
            <a:ext cx="481750" cy="48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484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BA22F5-1100-23E1-4FAD-3C485AC1B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6229AF2-AD17-9E0C-9038-0688E548BF53}"/>
              </a:ext>
            </a:extLst>
          </p:cNvPr>
          <p:cNvSpPr/>
          <p:nvPr/>
        </p:nvSpPr>
        <p:spPr>
          <a:xfrm>
            <a:off x="0" y="0"/>
            <a:ext cx="12191999" cy="4817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spc="300" dirty="0"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Buyer Composition</a:t>
            </a:r>
            <a:endParaRPr lang="en-IN" sz="2400" spc="300" dirty="0"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E90DDB-DCB4-7976-8145-5CA3A6E50C6C}"/>
              </a:ext>
            </a:extLst>
          </p:cNvPr>
          <p:cNvSpPr/>
          <p:nvPr/>
        </p:nvSpPr>
        <p:spPr>
          <a:xfrm>
            <a:off x="-1" y="501331"/>
            <a:ext cx="12191998" cy="5409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93B1AB-5AF4-A538-EE52-BF83281482CE}"/>
              </a:ext>
            </a:extLst>
          </p:cNvPr>
          <p:cNvSpPr/>
          <p:nvPr/>
        </p:nvSpPr>
        <p:spPr>
          <a:xfrm>
            <a:off x="-1" y="6376250"/>
            <a:ext cx="12191999" cy="4817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pc="600" dirty="0"/>
              <a:t>Developed By RG Consultants</a:t>
            </a:r>
            <a:endParaRPr lang="en-IN" spc="6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DACD56-633F-DFE6-DE6A-3FFD0B95A6F8}"/>
              </a:ext>
            </a:extLst>
          </p:cNvPr>
          <p:cNvSpPr/>
          <p:nvPr/>
        </p:nvSpPr>
        <p:spPr>
          <a:xfrm>
            <a:off x="-1" y="6310949"/>
            <a:ext cx="12191998" cy="45719"/>
          </a:xfrm>
          <a:prstGeom prst="rect">
            <a:avLst/>
          </a:pr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Block Arc 42">
            <a:extLst>
              <a:ext uri="{FF2B5EF4-FFF2-40B4-BE49-F238E27FC236}">
                <a16:creationId xmlns:a16="http://schemas.microsoft.com/office/drawing/2014/main" id="{3E8FC7FA-5E5F-28E6-8051-13AFEAC06B84}"/>
              </a:ext>
            </a:extLst>
          </p:cNvPr>
          <p:cNvSpPr/>
          <p:nvPr/>
        </p:nvSpPr>
        <p:spPr>
          <a:xfrm>
            <a:off x="5201265" y="0"/>
            <a:ext cx="1995948" cy="911452"/>
          </a:xfrm>
          <a:prstGeom prst="blockArc">
            <a:avLst/>
          </a:prstGeom>
          <a:gradFill>
            <a:gsLst>
              <a:gs pos="200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4" name="Block Arc 43">
            <a:extLst>
              <a:ext uri="{FF2B5EF4-FFF2-40B4-BE49-F238E27FC236}">
                <a16:creationId xmlns:a16="http://schemas.microsoft.com/office/drawing/2014/main" id="{FC76F722-CFEF-DA97-43DD-0371A6BA4EFF}"/>
              </a:ext>
            </a:extLst>
          </p:cNvPr>
          <p:cNvSpPr/>
          <p:nvPr/>
        </p:nvSpPr>
        <p:spPr>
          <a:xfrm>
            <a:off x="6504039" y="-19582"/>
            <a:ext cx="1995948" cy="911452"/>
          </a:xfrm>
          <a:prstGeom prst="blockArc">
            <a:avLst/>
          </a:prstGeom>
          <a:gradFill>
            <a:gsLst>
              <a:gs pos="600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5" name="Block Arc 44">
            <a:extLst>
              <a:ext uri="{FF2B5EF4-FFF2-40B4-BE49-F238E27FC236}">
                <a16:creationId xmlns:a16="http://schemas.microsoft.com/office/drawing/2014/main" id="{D6327D99-99A4-B946-94FE-FBB9E6108EBE}"/>
              </a:ext>
            </a:extLst>
          </p:cNvPr>
          <p:cNvSpPr/>
          <p:nvPr/>
        </p:nvSpPr>
        <p:spPr>
          <a:xfrm>
            <a:off x="8045244" y="0"/>
            <a:ext cx="1995948" cy="911452"/>
          </a:xfrm>
          <a:prstGeom prst="blockArc">
            <a:avLst/>
          </a:pr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7" name="Block Arc 46">
            <a:extLst>
              <a:ext uri="{FF2B5EF4-FFF2-40B4-BE49-F238E27FC236}">
                <a16:creationId xmlns:a16="http://schemas.microsoft.com/office/drawing/2014/main" id="{31B6C84D-37DF-956F-2C05-4B2B92700E6E}"/>
              </a:ext>
            </a:extLst>
          </p:cNvPr>
          <p:cNvSpPr/>
          <p:nvPr/>
        </p:nvSpPr>
        <p:spPr>
          <a:xfrm>
            <a:off x="9348018" y="9791"/>
            <a:ext cx="1995948" cy="911452"/>
          </a:xfrm>
          <a:prstGeom prst="blockArc">
            <a:avLst/>
          </a:pr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E95E851-C244-4E89-6EDC-B4AC5E63C3C4}"/>
              </a:ext>
            </a:extLst>
          </p:cNvPr>
          <p:cNvSpPr txBox="1"/>
          <p:nvPr/>
        </p:nvSpPr>
        <p:spPr>
          <a:xfrm>
            <a:off x="8613059" y="-12315"/>
            <a:ext cx="4426972" cy="461665"/>
          </a:xfrm>
          <a:prstGeom prst="rect">
            <a:avLst/>
          </a:prstGeom>
          <a:noFill/>
          <a:effectLst>
            <a:glow rad="139700">
              <a:schemeClr val="accent5">
                <a:satMod val="175000"/>
                <a:alpha val="40000"/>
              </a:schemeClr>
            </a:glow>
            <a:reflection stA="68000" endPos="65000" dist="254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reflection blurRad="6350" stA="60000" endA="900" endPos="60000" dist="60007" dir="5400000" sy="-100000" algn="bl" rotWithShape="0"/>
                </a:effectLst>
                <a:latin typeface="Bauhaus 93" panose="04030905020B02020C02" pitchFamily="82" charset="0"/>
              </a:rPr>
              <a:t>MARKET      MINDZ</a:t>
            </a:r>
            <a:endParaRPr lang="en-IN" sz="2400" dirty="0">
              <a:effectLst>
                <a:glow rad="139700">
                  <a:schemeClr val="accent5">
                    <a:satMod val="175000"/>
                    <a:alpha val="40000"/>
                  </a:schemeClr>
                </a:glow>
                <a:reflection blurRad="6350" stA="60000" endA="900" endPos="60000" dist="60007" dir="5400000" sy="-100000" algn="bl" rotWithShape="0"/>
              </a:effectLst>
              <a:latin typeface="Bauhaus 93" panose="04030905020B02020C02" pitchFamily="82" charset="0"/>
            </a:endParaRPr>
          </a:p>
        </p:txBody>
      </p:sp>
      <p:pic>
        <p:nvPicPr>
          <p:cNvPr id="52" name="Graphic 51" descr="Alien Face with solid fill">
            <a:extLst>
              <a:ext uri="{FF2B5EF4-FFF2-40B4-BE49-F238E27FC236}">
                <a16:creationId xmlns:a16="http://schemas.microsoft.com/office/drawing/2014/main" id="{88810982-CBEB-B5DE-66E7-DA97A47C2B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02761" y="-1"/>
            <a:ext cx="481750" cy="48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8333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89</TotalTime>
  <Words>16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Bauhaus 93</vt:lpstr>
      <vt:lpstr>Bookman Old Style</vt:lpstr>
      <vt:lpstr>Rockwell</vt:lpstr>
      <vt:lpstr>Damask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Rishabh gulati</dc:creator>
  <cp:lastModifiedBy>Rishabh gulati</cp:lastModifiedBy>
  <cp:revision>1</cp:revision>
  <dcterms:created xsi:type="dcterms:W3CDTF">2026-04-01T10:07:00Z</dcterms:created>
  <dcterms:modified xsi:type="dcterms:W3CDTF">2026-04-01T11:36:27Z</dcterms:modified>
</cp:coreProperties>
</file>